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 type="wide"/>
  <p:notesSz cx="6858000" cy="9144000"/>
  <p:defaultTextStyle>
    <a:defPPr>
      <a:defRPr lang="en-US"/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theme" Target="theme/theme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ableStyles" Target="tableStyles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../media/image_16_figure1_flair_overview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../media/image_22_figure2_forest_auroc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../media/image_23_figure3_degradati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10000" y="760000"/>
            <a:ext cx="1950000" cy="5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610000" y="1020000"/>
            <a:ext cx="109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5400" b="1">
                <a:solidFill>
                  <a:srgbClr val="1A1A1A"/>
                </a:solidFill>
              </a:rPr>
              <a:t>FLAIR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0000" y="1840000"/>
            <a:ext cx="109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6FB2"/>
                </a:solidFill>
              </a:rPr>
              <a:t>The Federated External-Validation Network for ICU AI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0000" y="2740000"/>
            <a:ext cx="1030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000" b="0">
                <a:solidFill>
                  <a:srgbClr val="6B6B6B"/>
                </a:solidFill>
              </a:rPr>
              <a:t>Federated Learning Assessment for ICU Research</a:t>
            </a:r>
          </a:p>
          <a:p>
            <a:pPr marL="0" indent="0"/>
            <a:r>
              <a:rPr lang="en-US" sz="2000" b="0">
                <a:solidFill>
                  <a:srgbClr val="6B6B6B"/>
                </a:solidFill>
              </a:rPr>
              <a:t>CLIF Consortium · FLAIR Working Group</a:t>
            </a:r>
          </a:p>
          <a:p>
            <a:pPr marL="0" indent="0"/>
            <a:r>
              <a:rPr lang="en-US" sz="2000" b="0">
                <a:solidFill>
                  <a:srgbClr val="6B6B6B"/>
                </a:solidFill>
              </a:rPr>
              <a:t>MIMIC-CLIF · Rush · Northwestern Medicine · UChicago Medicine</a:t>
            </a:r>
          </a:p>
          <a:p>
            <a:pPr marL="0" indent="0"/>
            <a:r>
              <a:rPr lang="en-US" sz="2000" b="0">
                <a:solidFill>
                  <a:srgbClr val="6B6B6B"/>
                </a:solidFill>
              </a:rPr>
              <a:t>278,065 ICU stays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ICU AI has a trust bottleneck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Models for sepsis, extubation, mortality, and operations appear faster than evidence can validate them.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A strong internal AUC does not answer the clinical-scientific question.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The hard part is proving whether a model works somewhere it was not built.</a:t>
            </a:r>
          </a:p>
        </p:txBody>
      </p:sp>
      <p:sp>
        <p:nvSpPr>
          <p:cNvPr id="7" name="Rect 7"/>
          <p:cNvSpPr/>
          <p:nvPr/>
        </p:nvSpPr>
        <p:spPr>
          <a:xfrm>
            <a:off x="760000" y="5550000"/>
            <a:ext cx="10680000" cy="650000"/>
          </a:xfrm>
          <a:prstGeom prst="rect">
            <a:avLst/>
          </a:prstGeom>
          <a:solidFill>
            <a:srgbClr val="F7F7F6"/>
          </a:solidFill>
          <a:ln>
            <a:solidFill>
              <a:srgbClr val="E7E7E4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00000" y="5650000"/>
            <a:ext cx="103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900" b="1">
                <a:solidFill>
                  <a:srgbClr val="1A6FB2"/>
                </a:solidFill>
              </a:rPr>
              <a:t>FLAIR turns that question into a repeatable network test.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The one-line value proposition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Develop models on public MIMIC-CLIF.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Validate them across independent hospitals.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Keep patient-level data inside each institution.</a:t>
            </a:r>
          </a:p>
        </p:txBody>
      </p:sp>
      <p:sp>
        <p:nvSpPr>
          <p:cNvPr id="7" name="Rect 7"/>
          <p:cNvSpPr/>
          <p:nvPr/>
        </p:nvSpPr>
        <p:spPr>
          <a:xfrm>
            <a:off x="760000" y="5550000"/>
            <a:ext cx="10680000" cy="650000"/>
          </a:xfrm>
          <a:prstGeom prst="rect">
            <a:avLst/>
          </a:prstGeom>
          <a:solidFill>
            <a:srgbClr val="F7F7F6"/>
          </a:solidFill>
          <a:ln>
            <a:solidFill>
              <a:srgbClr val="E7E7E4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00000" y="5650000"/>
            <a:ext cx="103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900" b="1">
                <a:solidFill>
                  <a:srgbClr val="1A6FB2"/>
                </a:solidFill>
              </a:rPr>
              <a:t>The model goes to the data. Only aggregate, cell-suppressed reports come back.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The result that makes this urgent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000" b="1">
                <a:solidFill>
                  <a:srgbClr val="1A1A1A"/>
                </a:solidFill>
              </a:rPr>
              <a:t>Sepsis AUROC, frozen MIMIC-trained baseline: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67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1">
                <a:solidFill>
                  <a:srgbClr val="1A1A1A"/>
                </a:solidFill>
              </a:rPr>
              <a:t>MIMIC-CLIF internal: 0.697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10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E0221C"/>
                </a:solidFill>
              </a:rPr>
              <a:t>Rush: 0.430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000" y="253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E0221C"/>
                </a:solidFill>
              </a:rPr>
              <a:t>Northwestern Medicine: 0.449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0000" y="296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E0221C"/>
                </a:solidFill>
              </a:rPr>
              <a:t>UChicago Medicine: 0.440</a:t>
            </a:r>
          </a:p>
        </p:txBody>
      </p:sp>
      <p:sp>
        <p:nvSpPr>
          <p:cNvPr id="9" name="Rect 9"/>
          <p:cNvSpPr/>
          <p:nvPr/>
        </p:nvSpPr>
        <p:spPr>
          <a:xfrm>
            <a:off x="760000" y="5550000"/>
            <a:ext cx="10680000" cy="650000"/>
          </a:xfrm>
          <a:prstGeom prst="rect">
            <a:avLst/>
          </a:prstGeom>
          <a:solidFill>
            <a:srgbClr val="F7F7F6"/>
          </a:solidFill>
          <a:ln>
            <a:solidFill>
              <a:srgbClr val="E7E7E4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900000" y="5650000"/>
            <a:ext cx="103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900" b="1">
                <a:solidFill>
                  <a:srgbClr val="E0221C"/>
                </a:solidFill>
              </a:rPr>
              <a:t>A model that looked useful on public ICU data became worse than chance on the highest-stakes task at every external health system.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Public benchmarks are necessary, but not sufficient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Public ICU benchmarks centralize test data; FLAIR federates testing at hospitals.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Public benchmarks are ideal for development; FLAIR adds external validation under real institutional variation.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Public test sets can saturate; FLAIR evaluation data never enter public hands.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000" y="2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FLAIR complements MIMIC, eICU, HiRID, YAIB, EHRSHOT, and MEDS.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External validation is too slow today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1800" b="0">
                <a:solidFill>
                  <a:srgbClr val="1A1A1A"/>
                </a:solidFill>
              </a:rPr>
              <a:t>Independent EHR validation usually requires one-off data-use agreements, local analyst time, and repeated reimplementation.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Flagship systems have taken years to reach only a handful of sites.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The Epic Sepsis Model fell to AUC 0.63 in independent evaluation, against vendor-claimed 0.76-0.83.</a:t>
            </a:r>
          </a:p>
        </p:txBody>
      </p:sp>
      <p:sp>
        <p:nvSpPr>
          <p:cNvPr id="7" name="Rect 7"/>
          <p:cNvSpPr/>
          <p:nvPr/>
        </p:nvSpPr>
        <p:spPr>
          <a:xfrm>
            <a:off x="760000" y="5550000"/>
            <a:ext cx="10680000" cy="650000"/>
          </a:xfrm>
          <a:prstGeom prst="rect">
            <a:avLst/>
          </a:prstGeom>
          <a:solidFill>
            <a:srgbClr val="F7F7F6"/>
          </a:solidFill>
          <a:ln>
            <a:solidFill>
              <a:srgbClr val="E7E7E4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00000" y="5650000"/>
            <a:ext cx="103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900" b="1">
                <a:solidFill>
                  <a:srgbClr val="1A6FB2"/>
                </a:solidFill>
              </a:rPr>
              <a:t>FLAIR changes the unit of work: from bespoke bilateral studies to a standing model-to-data protocol.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The infrastructure gap: no standing ICU validation network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OHDSI / LEGEND federates OMOP studies, not an ICU benchmark catalog.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OpenSAFELY moves analytic code to secure data, but not critical-care model benchmarking.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MedPerf and FeTS prove model-to-data and federated training in imaging.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000" y="2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DREAM and EHR DREAM show challenge-style model-to-data evaluation.</a:t>
            </a:r>
          </a:p>
        </p:txBody>
      </p:sp>
      <p:sp>
        <p:nvSpPr>
          <p:cNvPr id="8" name="Rect 8"/>
          <p:cNvSpPr/>
          <p:nvPr/>
        </p:nvSpPr>
        <p:spPr>
          <a:xfrm>
            <a:off x="760000" y="5550000"/>
            <a:ext cx="10680000" cy="650000"/>
          </a:xfrm>
          <a:prstGeom prst="rect">
            <a:avLst/>
          </a:prstGeom>
          <a:solidFill>
            <a:srgbClr val="F7F7F6"/>
          </a:solidFill>
          <a:ln>
            <a:solidFill>
              <a:srgbClr val="E7E7E4"/>
            </a:solidFill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900000" y="5650000"/>
            <a:ext cx="103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900" b="1">
                <a:solidFill>
                  <a:srgbClr val="1A6FB2"/>
                </a:solidFill>
              </a:rPr>
              <a:t>Missing for ICU EHR: CLIF standardization + reusable, extensible tasks + governed federated evaluation.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FLAIR is three coupled products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Data layer: CLIF critical-care standard plus public MIMIC-CLIF entry point.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Task layer: five inspectable Python tasks today; open, governed, PR-extensible catalog.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Protocol layer: committee-reviewed model-to-data execution with aggregate-only reports.</a:t>
            </a:r>
          </a:p>
        </p:txBody>
      </p:sp>
      <p:sp>
        <p:nvSpPr>
          <p:cNvPr id="7" name="Rect 7"/>
          <p:cNvSpPr/>
          <p:nvPr/>
        </p:nvSpPr>
        <p:spPr>
          <a:xfrm>
            <a:off x="760000" y="5550000"/>
            <a:ext cx="10680000" cy="650000"/>
          </a:xfrm>
          <a:prstGeom prst="rect">
            <a:avLst/>
          </a:prstGeom>
          <a:solidFill>
            <a:srgbClr val="F7F7F6"/>
          </a:solidFill>
          <a:ln>
            <a:solidFill>
              <a:srgbClr val="E7E7E4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00000" y="5650000"/>
            <a:ext cx="103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900" b="1">
                <a:solidFill>
                  <a:srgbClr val="1A6FB2"/>
                </a:solidFill>
              </a:rPr>
              <a:t>This is not another ICU model. It is the evidence layer models must pass through.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FLAIR is open infrastructure for ICU evaluation standards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Open-source task definitions, feature contracts, report generation, and evaluation protocol.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A common way to define cohorts, prediction times, labels, splits, metrics, report bundles, and audit metadata.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New tasks are added as inspectable Python modules, not one-off private benchmark forks.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000" y="2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Contributions require MIMIC-CLIF reproducibility, clinician review, and multi-site governance sign-off.</a:t>
            </a:r>
          </a:p>
        </p:txBody>
      </p:sp>
      <p:sp>
        <p:nvSpPr>
          <p:cNvPr id="8" name="Rect 8"/>
          <p:cNvSpPr/>
          <p:nvPr/>
        </p:nvSpPr>
        <p:spPr>
          <a:xfrm>
            <a:off x="760000" y="5550000"/>
            <a:ext cx="10680000" cy="650000"/>
          </a:xfrm>
          <a:prstGeom prst="rect">
            <a:avLst/>
          </a:prstGeom>
          <a:solidFill>
            <a:srgbClr val="F7F7F6"/>
          </a:solidFill>
          <a:ln>
            <a:solidFill>
              <a:srgbClr val="E7E7E4"/>
            </a:solidFill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900000" y="5650000"/>
            <a:ext cx="103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900" b="1">
                <a:solidFill>
                  <a:srgbClr val="1A6FB2"/>
                </a:solidFill>
              </a:rPr>
              <a:t>Reusable, auditable, extensible ICU AI evaluation across the CLIF community.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What each stakeholder gets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Model developers: credible external evidence without acquiring private ICU data.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67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Hospitals: local control, no patient-row sharing, comparable reports.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10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1800" b="0">
                <a:solidFill>
                  <a:srgbClr val="1A1A1A"/>
                </a:solidFill>
              </a:rPr>
              <a:t>Journals and reviewers: audit hashes, reproducible task code, cohort summaries, confidence intervals, calibration where meaningful.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000" y="253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CLIF consortium: a high-value use case that makes CLIF adoption immediately useful.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0000" y="296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Patients and public: less reliance on one-hospital claims.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Why CLIF makes the network possible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CLIF maps ICU EHR content into shared relational tables and mCIDE categories.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Task code refers to shared table names and category values, not local EHR idiosyncrasies.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MIMIC-CLIF expresses MIMIC-IV in CLIF v2.1 with approximately 72,800 ICU stays.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000" y="2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Developers debug publicly, then run the same task/model contract across private CLIF sites.</a:t>
            </a:r>
          </a:p>
        </p:txBody>
      </p:sp>
      <p:sp>
        <p:nvSpPr>
          <p:cNvPr id="8" name="Rect 8"/>
          <p:cNvSpPr/>
          <p:nvPr/>
        </p:nvSpPr>
        <p:spPr>
          <a:xfrm>
            <a:off x="760000" y="5550000"/>
            <a:ext cx="10680000" cy="650000"/>
          </a:xfrm>
          <a:prstGeom prst="rect">
            <a:avLst/>
          </a:prstGeom>
          <a:solidFill>
            <a:srgbClr val="F7F7F6"/>
          </a:solidFill>
          <a:ln>
            <a:solidFill>
              <a:srgbClr val="E7E7E4"/>
            </a:solidFill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900000" y="5650000"/>
            <a:ext cx="103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900" b="1">
                <a:solidFill>
                  <a:srgbClr val="1A6FB2"/>
                </a:solidFill>
              </a:rPr>
              <a:t>CLIF is the portability layer. FLAIR is the validation layer.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Developers can plug in at the representation they need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CLIF-native features: direct table-based extraction for models that operate on CLIF relations.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67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MEDS event stream: optional event-sequence export for MEDS-native pipelines.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10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Wide table: YAIB-style matrix for classical ML and one-row-per-prediction workflows.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000" y="253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FLAIR standardizes the task and evaluation contract, not the model architecture.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0000" y="296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Model teams can use their preferred representation as long as outputs meet the prediction-file contract.</a:t>
            </a:r>
          </a:p>
        </p:txBody>
      </p:sp>
      <p:sp>
        <p:nvSpPr>
          <p:cNvPr id="9" name="Rect 9"/>
          <p:cNvSpPr/>
          <p:nvPr/>
        </p:nvSpPr>
        <p:spPr>
          <a:xfrm>
            <a:off x="760000" y="5550000"/>
            <a:ext cx="10680000" cy="650000"/>
          </a:xfrm>
          <a:prstGeom prst="rect">
            <a:avLst/>
          </a:prstGeom>
          <a:solidFill>
            <a:srgbClr val="F7F7F6"/>
          </a:solidFill>
          <a:ln>
            <a:solidFill>
              <a:srgbClr val="E7E7E4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900000" y="5650000"/>
            <a:ext cx="103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900" b="1">
                <a:solidFill>
                  <a:srgbClr val="1A6FB2"/>
                </a:solidFill>
              </a:rPr>
              <a:t>FLAIR can assist with supported data formats; the model owner controls feature engineering and modeling choices.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The initial catalog covers decisions ICUs actually face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T1 ICU daily mortality — daily 07:00 — landmark — prevalence 0.125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67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T2 LTACH discharge — daily 07:00 — landmark — prevalence 0.062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10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T3 Extubation failure 24 h — at extubation — episodic — prevalence 0.054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000" y="253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T4 Sepsis (CDC ASE) 6 h — hourly — peak — prevalence 0.061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0000" y="296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T5 Unplanned ICU readmission — ICU discharge — episodic — prevalence 0.093</a:t>
            </a:r>
          </a:p>
        </p:txBody>
      </p:sp>
      <p:sp>
        <p:nvSpPr>
          <p:cNvPr id="9" name="Rect 9"/>
          <p:cNvSpPr/>
          <p:nvPr/>
        </p:nvSpPr>
        <p:spPr>
          <a:xfrm>
            <a:off x="760000" y="5550000"/>
            <a:ext cx="10680000" cy="650000"/>
          </a:xfrm>
          <a:prstGeom prst="rect">
            <a:avLst/>
          </a:prstGeom>
          <a:solidFill>
            <a:srgbClr val="F7F7F6"/>
          </a:solidFill>
          <a:ln>
            <a:solidFill>
              <a:srgbClr val="E7E7E4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900000" y="5650000"/>
            <a:ext cx="103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900" b="1">
                <a:solidFill>
                  <a:srgbClr val="1A6FB2"/>
                </a:solidFill>
              </a:rPr>
              <a:t>One Python module per task; catalog acceptance requires MIMIC reproducibility, clinician face validity, and two-site sign-off.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Sepsis is the stress test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CDC Adult Sepsis Event within 6 hours on an hourly, hospital-wide grid.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The prediction window ends strictly before onset: no future treatment signal.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Peak scoring collapses each stay to maximum risk, matching one-alarm operational use.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000" y="2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It is rare, high-stakes, and sensitive to practice-pattern shift.</a:t>
            </a:r>
          </a:p>
        </p:txBody>
      </p:sp>
      <p:sp>
        <p:nvSpPr>
          <p:cNvPr id="8" name="Rect 8"/>
          <p:cNvSpPr/>
          <p:nvPr/>
        </p:nvSpPr>
        <p:spPr>
          <a:xfrm>
            <a:off x="760000" y="5550000"/>
            <a:ext cx="10680000" cy="650000"/>
          </a:xfrm>
          <a:prstGeom prst="rect">
            <a:avLst/>
          </a:prstGeom>
          <a:solidFill>
            <a:srgbClr val="F7F7F6"/>
          </a:solidFill>
          <a:ln>
            <a:solidFill>
              <a:srgbClr val="E7E7E4"/>
            </a:solidFill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900000" y="5650000"/>
            <a:ext cx="103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900" b="1">
                <a:solidFill>
                  <a:srgbClr val="1A6FB2"/>
                </a:solidFill>
              </a:rPr>
              <a:t>If a sepsis model fails across hospitals, the field needs to know before deployment.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Where FLAIR fits in the AI/CDSS lifecycle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1800" b="0">
                <a:solidFill>
                  <a:srgbClr val="1A1A1A"/>
                </a:solidFill>
              </a:rPr>
              <a:t>Cohort + task: decide who is included, when prediction happens, and what counts as the outcome. FLAIR standard, community-extensible.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67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1800" b="0">
                <a:solidFill>
                  <a:srgbClr val="1A1A1A"/>
                </a:solidFill>
              </a:rPr>
              <a:t>Feature engineering: turn clinical history into model inputs using CLIF-native, MEDS, or wide data. Model owner; FLAIR assists with formats.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10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Model development: train, tune, document, and freeze the algorithm. Model owner.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000" y="253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1800" b="0">
                <a:solidFill>
                  <a:srgbClr val="1A1A1A"/>
                </a:solidFill>
              </a:rPr>
              <a:t>Federated evaluation: run the frozen artifact locally at each site using the same task and metrics. FLAIR protocol; site-approved.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0000" y="296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Evidence report: return comparable, aggregate, cell-suppressed performance summaries. FLAIR report standard.</a:t>
            </a:r>
          </a:p>
        </p:txBody>
      </p:sp>
      <p:sp>
        <p:nvSpPr>
          <p:cNvPr id="9" name="Rect 9"/>
          <p:cNvSpPr/>
          <p:nvPr/>
        </p:nvSpPr>
        <p:spPr>
          <a:xfrm>
            <a:off x="760000" y="5550000"/>
            <a:ext cx="10680000" cy="650000"/>
          </a:xfrm>
          <a:prstGeom prst="rect">
            <a:avLst/>
          </a:prstGeom>
          <a:solidFill>
            <a:srgbClr val="F7F7F6"/>
          </a:solidFill>
          <a:ln>
            <a:solidFill>
              <a:srgbClr val="E7E7E4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900000" y="5650000"/>
            <a:ext cx="103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900" b="1">
                <a:solidFill>
                  <a:srgbClr val="1A6FB2"/>
                </a:solidFill>
              </a:rPr>
              <a:t>Encapsulation makes evaluation faster and cleaner: shared task logic, private models, repeatable reports.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The model-to-data loop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2339101" y="1250000"/>
            <a:ext cx="7471797" cy="4100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80000" y="5750000"/>
            <a:ext cx="106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800" b="0">
                <a:solidFill>
                  <a:srgbClr val="6B6B6B"/>
                </a:solidFill>
              </a:rPr>
              <a:t>Central governance approves and stamps the artifact; each site runs it locally on CLIF; only aggregate, cell-suppressed reports return.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Governance is part of the product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Benchmark Committee reviews reproducibility, clinical face validity, task fit, and security.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Sites retain final approval over what runs locally.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Every report includes task hash, package version, split, report mode, n, prevalence, and threshold.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000" y="2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Counts below 10 are suppressed; sparse subgroups and calibration bins are withheld.</a:t>
            </a:r>
          </a:p>
        </p:txBody>
      </p:sp>
      <p:sp>
        <p:nvSpPr>
          <p:cNvPr id="8" name="Rect 8"/>
          <p:cNvSpPr/>
          <p:nvPr/>
        </p:nvSpPr>
        <p:spPr>
          <a:xfrm>
            <a:off x="760000" y="5550000"/>
            <a:ext cx="10680000" cy="650000"/>
          </a:xfrm>
          <a:prstGeom prst="rect">
            <a:avLst/>
          </a:prstGeom>
          <a:solidFill>
            <a:srgbClr val="F7F7F6"/>
          </a:solidFill>
          <a:ln>
            <a:solidFill>
              <a:srgbClr val="E7E7E4"/>
            </a:solidFill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900000" y="5650000"/>
            <a:ext cx="103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900" b="1">
                <a:solidFill>
                  <a:srgbClr val="1A6FB2"/>
                </a:solidFill>
              </a:rPr>
              <a:t>The network is usable because trust, review, and suppression are built in.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Comparability safeguards make results credible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Stitched hospitalizations: fragmented clinical episodes are joined into one unit.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Strict point-in-time features: only data at or before prediction_dttm are used.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Pseudo-prospective external splits: oldest 75% train, newest 25% test at each site.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000" y="2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Audit hashes: sites can prove byte-identical task code and policy metadata.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Evaluation matches the way a task is used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Episodic tasks: AUROC, AUPRC, ROC/PR curves, calibration, decision curves, subgroup AUROC.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Landmark tasks: per-landmark AUC curve plus pooled dynamic AUC, lead-time and skill plots.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Peak tasks: discrimination and subgroup metrics; calibration/DCA omitted to avoid peak-calibration distortion.</a:t>
            </a:r>
          </a:p>
        </p:txBody>
      </p:sp>
      <p:sp>
        <p:nvSpPr>
          <p:cNvPr id="7" name="Rect 7"/>
          <p:cNvSpPr/>
          <p:nvPr/>
        </p:nvSpPr>
        <p:spPr>
          <a:xfrm>
            <a:off x="760000" y="5550000"/>
            <a:ext cx="10680000" cy="650000"/>
          </a:xfrm>
          <a:prstGeom prst="rect">
            <a:avLst/>
          </a:prstGeom>
          <a:solidFill>
            <a:srgbClr val="F7F7F6"/>
          </a:solidFill>
          <a:ln>
            <a:solidFill>
              <a:srgbClr val="E7E7E4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00000" y="5650000"/>
            <a:ext cx="103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900" b="1">
                <a:solidFill>
                  <a:srgbClr val="1A6FB2"/>
                </a:solidFill>
              </a:rPr>
              <a:t>FLAIR measures operational behavior, not just row-level discrimination.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The reference baseline is deliberately shippable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One frozen XGBoost model over point-in-time count features.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CLIF events map to a fixed 211-code Event List Format vocabulary.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Counts include only codes strictly before prediction time; units and discharge diagnoses are excluded.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000" y="2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Hyperparameters tuned once on MIMIC-CLIF; model and dictionary ship unchanged to sites for inference only.</a:t>
            </a:r>
          </a:p>
        </p:txBody>
      </p:sp>
      <p:sp>
        <p:nvSpPr>
          <p:cNvPr id="8" name="Rect 8"/>
          <p:cNvSpPr/>
          <p:nvPr/>
        </p:nvSpPr>
        <p:spPr>
          <a:xfrm>
            <a:off x="760000" y="5550000"/>
            <a:ext cx="10680000" cy="650000"/>
          </a:xfrm>
          <a:prstGeom prst="rect">
            <a:avLst/>
          </a:prstGeom>
          <a:solidFill>
            <a:srgbClr val="F7F7F6"/>
          </a:solidFill>
          <a:ln>
            <a:solidFill>
              <a:srgbClr val="E7E7E4"/>
            </a:solidFill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900000" y="5650000"/>
            <a:ext cx="103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900" b="1">
                <a:solidFill>
                  <a:srgbClr val="1A6FB2"/>
                </a:solidFill>
              </a:rPr>
              <a:t>The baseline is not the product. It exposes transport behavior.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Four reporting sites; four onboarding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MIMIC-CLIF: 72,778 ICU stays; female 43.2%; age 67; SOFA 5.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67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Rush: 53,356 ICU stays; female 47.8%; age 63; SOFA 4.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10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Northwestern Medicine: 114,335 ICU stays; female 44.0%; age 66; SOFA 5.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000" y="253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UChicago Medicine: 37,596 ICU stays; female 43.5%; age 61; SOFA 6.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0000" y="296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Consortium sites 5-8: onboarding placeholders.</a:t>
            </a:r>
          </a:p>
        </p:txBody>
      </p:sp>
      <p:sp>
        <p:nvSpPr>
          <p:cNvPr id="9" name="Rect 9"/>
          <p:cNvSpPr/>
          <p:nvPr/>
        </p:nvSpPr>
        <p:spPr>
          <a:xfrm>
            <a:off x="760000" y="5550000"/>
            <a:ext cx="10680000" cy="650000"/>
          </a:xfrm>
          <a:prstGeom prst="rect">
            <a:avLst/>
          </a:prstGeom>
          <a:solidFill>
            <a:srgbClr val="F7F7F6"/>
          </a:solidFill>
          <a:ln>
            <a:solidFill>
              <a:srgbClr val="E7E7E4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900000" y="5650000"/>
            <a:ext cx="103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900" b="1">
                <a:solidFill>
                  <a:srgbClr val="1A6FB2"/>
                </a:solidFill>
              </a:rPr>
              <a:t>278,065 ICU stays across four independent reporting health systems.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Per-site performance is the headline product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1115909" y="1250000"/>
            <a:ext cx="9918181" cy="4099999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80000" y="5750000"/>
            <a:ext cx="106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800" b="0">
                <a:solidFill>
                  <a:srgbClr val="6B6B6B"/>
                </a:solidFill>
              </a:rPr>
              <a:t>A single pooled AUROC would hide the story. FLAIR makes the per-site spread visible.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Strong internal discrimination does not survive transport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1865667" y="1250000"/>
            <a:ext cx="8418666" cy="4100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80000" y="5750000"/>
            <a:ext cx="106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800" b="0">
                <a:solidFill>
                  <a:srgbClr val="6B6B6B"/>
                </a:solidFill>
              </a:rPr>
              <a:t>Median internal-to-external AUROC drop: sepsis 0.257, LTACH 0.176, readmission 0.147, mortality 0.067, extubation 0.033.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Transportability is heterogeneous, not binary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Transports: mortality external 0.73-0.80 vs 0.835 internal.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Collapses: sepsis below chance everywhere; readmission near chance.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Splits: extubation matches MIMIC at Northwestern (0.703) but drops at UChicago (0.531).</a:t>
            </a:r>
          </a:p>
        </p:txBody>
      </p:sp>
      <p:sp>
        <p:nvSpPr>
          <p:cNvPr id="7" name="Rect 7"/>
          <p:cNvSpPr/>
          <p:nvPr/>
        </p:nvSpPr>
        <p:spPr>
          <a:xfrm>
            <a:off x="760000" y="5550000"/>
            <a:ext cx="10680000" cy="650000"/>
          </a:xfrm>
          <a:prstGeom prst="rect">
            <a:avLst/>
          </a:prstGeom>
          <a:solidFill>
            <a:srgbClr val="F7F7F6"/>
          </a:solidFill>
          <a:ln>
            <a:solidFill>
              <a:srgbClr val="E7E7E4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00000" y="5650000"/>
            <a:ext cx="103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900" b="1">
                <a:solidFill>
                  <a:srgbClr val="1A6FB2"/>
                </a:solidFill>
              </a:rPr>
              <a:t>Site effects are the signal.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FLAIR's defensible advantages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Saturation resistance: evaluation data stay siloed and private.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67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Evaluation, not training: aggregate metrics leak less than federated-learning updates.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10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Auditability: byte-identical code and hashes make cohorts, labels, exclusions, and splits re-inspectable.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000" y="253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Extensibility: new tasks enter through PRs and multi-site governance.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0000" y="296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Adoption flywheel: every CLIF site increases the value of every future model evaluation.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What FLAIR is not claiming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It does not certify any model for bedside use.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It does not replace prospective silent trials or clinical-impact studies.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It does not move patient-level data or expose row-level errors centrally.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000" y="2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1800" b="0">
                <a:solidFill>
                  <a:srgbClr val="1A1A1A"/>
                </a:solidFill>
              </a:rPr>
              <a:t>It currently covers structured EHR binary prediction tasks, not notes, waveforms, imaging, treatment effects, or generative outputs.</a:t>
            </a:r>
          </a:p>
        </p:txBody>
      </p:sp>
      <p:sp>
        <p:nvSpPr>
          <p:cNvPr id="8" name="Rect 8"/>
          <p:cNvSpPr/>
          <p:nvPr/>
        </p:nvSpPr>
        <p:spPr>
          <a:xfrm>
            <a:off x="760000" y="5550000"/>
            <a:ext cx="10680000" cy="650000"/>
          </a:xfrm>
          <a:prstGeom prst="rect">
            <a:avLst/>
          </a:prstGeom>
          <a:solidFill>
            <a:srgbClr val="F7F7F6"/>
          </a:solidFill>
          <a:ln>
            <a:solidFill>
              <a:srgbClr val="E7E7E4"/>
            </a:solidFill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900000" y="5650000"/>
            <a:ext cx="103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900" b="1">
                <a:solidFill>
                  <a:srgbClr val="1A6FB2"/>
                </a:solidFill>
              </a:rPr>
              <a:t>FLAIR is the pre-deployment evidence layer between local development and clinician-facing claims.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The ask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1800" b="0">
                <a:solidFill>
                  <a:srgbClr val="1A1A1A"/>
                </a:solidFill>
              </a:rPr>
              <a:t>Sites: map to CLIF, run approved artifacts locally, and contribute private external evidence without sharing private rows.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7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Developers: bring frozen models for auditable, multi-site validation.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Funders: invest in infrastructure that scales evidence, not just algorithms.</a:t>
            </a:r>
          </a:p>
        </p:txBody>
      </p:sp>
      <p:sp>
        <p:nvSpPr>
          <p:cNvPr id="7" name="Rect 7"/>
          <p:cNvSpPr/>
          <p:nvPr/>
        </p:nvSpPr>
        <p:spPr>
          <a:xfrm>
            <a:off x="760000" y="5550000"/>
            <a:ext cx="10680000" cy="650000"/>
          </a:xfrm>
          <a:prstGeom prst="rect">
            <a:avLst/>
          </a:prstGeom>
          <a:solidFill>
            <a:srgbClr val="F7F7F6"/>
          </a:solidFill>
          <a:ln>
            <a:solidFill>
              <a:srgbClr val="E7E7E4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00000" y="5650000"/>
            <a:ext cx="103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900" b="1">
                <a:solidFill>
                  <a:srgbClr val="1A6FB2"/>
                </a:solidFill>
              </a:rPr>
              <a:t>Develop on public MIMIC-CLIF. Validate federated.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320000"/>
            <a:ext cx="111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1A1A"/>
                </a:solidFill>
              </a:rPr>
              <a:t>Takeaways</a:t>
            </a:r>
          </a:p>
        </p:txBody>
      </p:sp>
      <p:sp>
        <p:nvSpPr>
          <p:cNvPr id="3" name="Rect 3"/>
          <p:cNvSpPr/>
          <p:nvPr/>
        </p:nvSpPr>
        <p:spPr>
          <a:xfrm>
            <a:off x="520000" y="960000"/>
            <a:ext cx="1180000" cy="4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00000" y="124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FLAIR fills the missing layer in ICU AI: external validation across real hospitals without patient-data movement.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167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CLIF makes the code portable; FLAIR makes evaluation governed, auditable, and reusable.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210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Open-source standards make tasks reusable and extensible, while model owners keep control of features and models.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000" y="253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Encapsulation lets the same evaluation run faster and more consistently across hospitals.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0000" y="2960000"/>
            <a:ext cx="10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457200" indent="-228600">
              <a:buChar char="•"/>
            </a:pPr>
            <a:r>
              <a:rPr lang="en-US" sz="2000" b="0">
                <a:solidFill>
                  <a:srgbClr val="1A1A1A"/>
                </a:solidFill>
              </a:rPr>
              <a:t>The contribution is not a model; it is a reproducible way to ask whether ICU models behave alike across institutions.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10000" y="760000"/>
            <a:ext cx="1950000" cy="52000"/>
          </a:xfrm>
          <a:prstGeom prst="rect">
            <a:avLst/>
          </a:prstGeom>
          <a:solidFill>
            <a:srgbClr val="1A6FB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610000" y="1020000"/>
            <a:ext cx="109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5400" b="1">
                <a:solidFill>
                  <a:srgbClr val="1A1A1A"/>
                </a:solidFill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0000" y="1840000"/>
            <a:ext cx="109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800" b="1">
                <a:solidFill>
                  <a:srgbClr val="1A6FB2"/>
                </a:solidFill>
              </a:rPr>
              <a:t>FLAIR — Federated Learning Assessment for ICU Research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0000" y="2740000"/>
            <a:ext cx="1030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2000" b="0">
                <a:solidFill>
                  <a:srgbClr val="6B6B6B"/>
                </a:solidFill>
              </a:rPr>
              <a:t>github.com/clif-consortium/FLAIR</a:t>
            </a:r>
          </a:p>
          <a:p>
            <a:pPr marL="0" indent="0"/>
            <a:r>
              <a:rPr lang="en-US" sz="2000" b="0">
                <a:solidFill>
                  <a:srgbClr val="6B6B6B"/>
                </a:solidFill>
              </a:rPr>
              <a:t>MIMIC-CLIF · Rush · Northwestern Medicine · UChicago Medicine</a:t>
            </a:r>
          </a:p>
          <a:p>
            <a:pPr marL="0" indent="0"/>
            <a:r>
              <a:rPr lang="en-US" sz="2000" b="0">
                <a:solidFill>
                  <a:srgbClr val="6B6B6B"/>
                </a:solidFill>
              </a:rPr>
              <a:t>278,065 ICU stays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0000" y="6460000"/>
            <a:ext cx="111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/>
            <a:r>
              <a:rPr lang="en-US" sz="1000" b="0">
                <a:solidFill>
                  <a:srgbClr val="6B6B6B"/>
                </a:solidFill>
              </a:rPr>
              <a:t>FLAIR: Federated ICU Benchmark on CLIF    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AIR">
  <a:themeElements>
    <a:clrScheme name="FLAIR">
      <a:dk1>
        <a:srgbClr val="1A1A1A"/>
      </a:dk1>
      <a:lt1>
        <a:srgbClr val="FFFFFF"/>
      </a:lt1>
      <a:dk2>
        <a:srgbClr val="3F3F3F"/>
      </a:dk2>
      <a:lt2>
        <a:srgbClr val="F7F7F6"/>
      </a:lt2>
      <a:accent1>
        <a:srgbClr val="1A6FB2"/>
      </a:accent1>
      <a:accent2>
        <a:srgbClr val="E0221C"/>
      </a:accent2>
      <a:accent3>
        <a:srgbClr val="6F9E78"/>
      </a:accent3>
      <a:accent4>
        <a:srgbClr val="8A6EA6"/>
      </a:accent4>
      <a:accent5>
        <a:srgbClr val="6B6B6B"/>
      </a:accent5>
      <a:accent6>
        <a:srgbClr val="E7E7E4"/>
      </a:accent6>
      <a:hlink>
        <a:srgbClr val="1A6FB2"/>
      </a:hlink>
      <a:folHlink>
        <a:srgbClr val="8A6EA6"/>
      </a:folHlink>
    </a:clrScheme>
    <a:fontScheme name="FLAIR">
      <a:majorFont>
        <a:latin typeface="Arial"/>
      </a:majorFont>
      <a:minorFont>
        <a:latin typeface="Arial"/>
      </a:minorFont>
    </a:fontScheme>
    <a:fmtScheme name="FLAIR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OpenCode OOXML Generator</Application>
  <PresentationFormat>On-screen Show (16:9)</PresentationFormat>
  <Slides>29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FLAIR Talk</dc:title>
  <dc:creator>CLIF Consortium / FLAIR Working Group</dc:creator>
  <cp:lastModifiedBy>OpenCode</cp:lastModifiedBy>
  <dcterms:created xsi:type="dcterms:W3CDTF">2026-07-07T04:08:24Z</dcterms:created>
  <dcterms:modified xsi:type="dcterms:W3CDTF">2026-07-07T04:08:24Z</dcterms:modified>
</cp:coreProperties>
</file>